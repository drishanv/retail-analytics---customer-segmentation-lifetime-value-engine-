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2044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2044"/>
                </a:solidFill>
                <a:latin typeface="Arial"/>
              </a:rPr>
              <a:t>Revenue Contribution by Segment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%</c:v>
                </c:pt>
              </c:strCache>
            </c:strRef>
          </c:tx>
          <c:spPr>
            <a:solidFill>
              <a:srgbClr val="0D8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20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8A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Champions</c:v>
                  </c:pt>
                  <c:pt idx="1">
                    <c:v>Loyalists</c:v>
                  </c:pt>
                  <c:pt idx="2">
                    <c:v>Potential</c:v>
                  </c:pt>
                  <c:pt idx="3">
                    <c:v>Hibernating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</c:v>
                </c:pt>
                <c:pt idx="1">
                  <c:v>28</c:v>
                </c:pt>
                <c:pt idx="2">
                  <c:v>12</c:v>
                </c:pt>
                <c:pt idx="3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F20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8F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2E8F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D8A8A">
              <a:alpha val="18000"/>
            </a:srgbClr>
          </a:solidFill>
          <a:ln w="12700">
            <a:solidFill>
              <a:srgbClr val="0D8A8A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286000"/>
            <a:ext cx="2743200" cy="2743200"/>
          </a:xfrm>
          <a:prstGeom prst="ellipse">
            <a:avLst/>
          </a:prstGeom>
          <a:solidFill>
            <a:srgbClr val="14B8B8">
              <a:alpha val="12000"/>
            </a:srgbClr>
          </a:solidFill>
          <a:ln w="12700">
            <a:solidFill>
              <a:srgbClr val="14B8B8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229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Retail Customer Analytics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4B8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RFM Segmentation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2004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514600"/>
            <a:ext cx="2468880" cy="914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5786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4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49808" y="2834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Consumer360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2514600"/>
            <a:ext cx="2468880" cy="914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7288" y="25786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4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447288" y="2834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&amp; LTV Engine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2514600"/>
            <a:ext cx="2468880" cy="914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44768" y="25786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4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144768" y="2834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SQL  ·  Power BI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731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Objective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9184" y="5486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achieve with Consumer360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280160"/>
            <a:ext cx="640080" cy="64008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2801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Identify High-Value Customers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166420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top-spending 'Whale' customers who drive the majority of revenue.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097280"/>
            <a:ext cx="64008" cy="169164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09728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83480" y="1280160"/>
            <a:ext cx="640080" cy="64008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760720" y="12801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 Churn Risk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60720" y="166420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hibernating and at-risk customers before they are lost permanently.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1097280"/>
            <a:ext cx="64008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01752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3200400"/>
            <a:ext cx="640080" cy="64008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32004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RFM Pipeline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0160" y="358444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scalable Python pipeline that computes RFM scores without manual effort.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017520"/>
            <a:ext cx="64008" cy="16916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301752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83480" y="3200400"/>
            <a:ext cx="640080" cy="64008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760720" y="32004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Power BI Dashboard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760720" y="358444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actionable business insights through live, filterable visual analytics.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017520"/>
            <a:ext cx="64008" cy="1691640"/>
          </a:xfrm>
          <a:prstGeom prst="rect">
            <a:avLst/>
          </a:prstGeom>
          <a:solidFill>
            <a:srgbClr val="14B8B8"/>
          </a:solidFill>
          <a:ln w="12700">
            <a:solidFill>
              <a:srgbClr val="14B8B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731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Pipeline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9184" y="5486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from raw data to dashboard insights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1481328" cy="2560320"/>
          </a:xfrm>
          <a:prstGeom prst="rect">
            <a:avLst/>
          </a:prstGeom>
          <a:solidFill>
            <a:srgbClr val="0D8A8A"/>
          </a:solidFill>
          <a:ln w="25400">
            <a:solidFill>
              <a:srgbClr val="0D8A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" y="155448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8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" y="228600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Raw Data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" y="2788920"/>
            <a:ext cx="1335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Transactions (CSV)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92224" y="2624328"/>
            <a:ext cx="201168" cy="54864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01952" y="2487168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57400" y="1371600"/>
            <a:ext cx="1481328" cy="2560320"/>
          </a:xfrm>
          <a:prstGeom prst="rect">
            <a:avLst/>
          </a:prstGeom>
          <a:solidFill>
            <a:srgbClr val="162E58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78024" y="1554480"/>
            <a:ext cx="640080" cy="640080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78024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30552" y="228600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ETL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30552" y="2788920"/>
            <a:ext cx="1335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Pipeline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75304" y="2624328"/>
            <a:ext cx="201168" cy="54864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85032" y="2487168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40480" y="1371600"/>
            <a:ext cx="1481328" cy="2560320"/>
          </a:xfrm>
          <a:prstGeom prst="rect">
            <a:avLst/>
          </a:prstGeom>
          <a:solidFill>
            <a:srgbClr val="162E58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61104" y="1554480"/>
            <a:ext cx="640080" cy="640080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61104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13632" y="228600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RFM Calc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13632" y="2788920"/>
            <a:ext cx="1335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· Frequency · Monetary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58384" y="2624328"/>
            <a:ext cx="201168" cy="54864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68112" y="2487168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23560" y="1371600"/>
            <a:ext cx="1481328" cy="2560320"/>
          </a:xfrm>
          <a:prstGeom prst="rect">
            <a:avLst/>
          </a:prstGeom>
          <a:solidFill>
            <a:srgbClr val="162E58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44184" y="1554480"/>
            <a:ext cx="640080" cy="640080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44184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696712" y="228600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696712" y="2788920"/>
            <a:ext cx="1335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Clusters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41464" y="2624328"/>
            <a:ext cx="201168" cy="54864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51192" y="2487168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406640" y="1371600"/>
            <a:ext cx="1481328" cy="2560320"/>
          </a:xfrm>
          <a:prstGeom prst="rect">
            <a:avLst/>
          </a:prstGeom>
          <a:solidFill>
            <a:srgbClr val="1A3A6A"/>
          </a:solidFill>
          <a:ln w="25400">
            <a:solidFill>
              <a:srgbClr val="0D8A8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27264" y="1554480"/>
            <a:ext cx="640080" cy="640080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479792" y="228600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BI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479792" y="2788920"/>
            <a:ext cx="1335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731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Engineering &amp; Preparation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9184" y="5486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raw transactions into analytics-ready features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64008" cy="374904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61872"/>
            <a:ext cx="274320" cy="27432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61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123444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Dataset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499616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nulls, fixed datatypes, standardised formats across the retail transaction CSV.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1965960"/>
            <a:ext cx="274320" cy="27432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193852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Conversion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20370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and converted transaction timestamps for accurate recency calculations.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670048"/>
            <a:ext cx="274320" cy="27432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" y="264261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Filtering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290779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all records with missing CustomerID to ensure clean segmentation.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374136"/>
            <a:ext cx="274320" cy="27432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74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334670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Aggregation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61188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Rolled up to customer level: total spend, purchase count, last purchase date.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4078224"/>
            <a:ext cx="274320" cy="27432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078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14400" y="405079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Feature Gen.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431596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Recency, Frequency, and Monetary values for every unique customer.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1051560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051560"/>
            <a:ext cx="3931920" cy="64008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21615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8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∼541K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4937760" y="18013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Transactions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2313432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2313432"/>
            <a:ext cx="39319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47802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4,339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4937760" y="3063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46320" y="3575304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46320" y="3575304"/>
            <a:ext cx="3931920" cy="6400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739896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4937760" y="43251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731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RFM Segmentation Model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9184" y="5486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Quantile-based scoring to classify customer behaviour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651760" cy="1920240"/>
          </a:xfrm>
          <a:prstGeom prst="rect">
            <a:avLst/>
          </a:prstGeom>
          <a:solidFill>
            <a:srgbClr val="0F204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9768" y="1143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8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234440" y="120700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Recency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9768" y="1965960"/>
            <a:ext cx="2450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last purchase. Lower = better. Recent buyers are more likely to buy again.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651760" cy="1920240"/>
          </a:xfrm>
          <a:prstGeom prst="rect">
            <a:avLst/>
          </a:prstGeom>
          <a:solidFill>
            <a:srgbClr val="0F204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10128" y="1143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8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114800" y="120700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Frequency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10128" y="1965960"/>
            <a:ext cx="2450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transactions. Higher = more engaged. Frequent buyers show brand loyalty.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1051560"/>
            <a:ext cx="2651760" cy="1920240"/>
          </a:xfrm>
          <a:prstGeom prst="rect">
            <a:avLst/>
          </a:prstGeom>
          <a:solidFill>
            <a:srgbClr val="0F204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90488" y="1143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8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995160" y="120700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Monetary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90488" y="1965960"/>
            <a:ext cx="2450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 value. Higher = more valuable. Identifies revenue-driving customers.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" y="3108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Segments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3456432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456432"/>
            <a:ext cx="2011680" cy="64008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3547872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Champions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9768" y="3858768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5-5-5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9768" y="4078224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 recently, buy often, spend the most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96312" y="3456432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496312" y="3456432"/>
            <a:ext cx="201168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06040" y="3547872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Loyalists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06040" y="3858768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4-4-4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606040" y="4078224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buyers with strong engagement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72584" y="3456432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72584" y="3456432"/>
            <a:ext cx="20116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82312" y="3547872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Potential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82312" y="3858768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3-3-3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82312" y="4078224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buyers with room to grow spend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48856" y="3456432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48856" y="3456432"/>
            <a:ext cx="201168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58584" y="3547872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Hibernating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58584" y="3858768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1-1-1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958584" y="4078224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active, now silent — churn risk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731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BI Dashboard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9184" y="5486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analytics across four core views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2651760" cy="1691640"/>
          </a:xfrm>
          <a:prstGeom prst="rect">
            <a:avLst/>
          </a:prstGeom>
          <a:solidFill>
            <a:srgbClr val="152A52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261872"/>
            <a:ext cx="475488" cy="475488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69848" y="126187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Overview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" y="182880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KPIs: total revenue, unique customers, and average spend at a glance.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078992"/>
            <a:ext cx="2651760" cy="1691640"/>
          </a:xfrm>
          <a:prstGeom prst="rect">
            <a:avLst/>
          </a:prstGeom>
          <a:solidFill>
            <a:srgbClr val="152A52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4992" y="1261872"/>
            <a:ext cx="475488" cy="475488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50208" y="126187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Segmentation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64992" y="182880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breakdown of Champions, Loyalists, Potential, and Hibernating segments.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1078992"/>
            <a:ext cx="2651760" cy="1691640"/>
          </a:xfrm>
          <a:prstGeom prst="rect">
            <a:avLst/>
          </a:prstGeom>
          <a:solidFill>
            <a:srgbClr val="152A52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45352" y="1261872"/>
            <a:ext cx="475488" cy="475488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5352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30568" y="126187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Churn Risk Analysis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45352" y="182880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at-risk customers with recency scores to prioritise reactivation campaigns.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999232"/>
            <a:ext cx="2651760" cy="1691640"/>
          </a:xfrm>
          <a:prstGeom prst="rect">
            <a:avLst/>
          </a:prstGeom>
          <a:solidFill>
            <a:srgbClr val="152A52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" y="3182112"/>
            <a:ext cx="475488" cy="475488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3182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69848" y="318211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KPI Cards &amp; Revenue Metrics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" y="374904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KPI tiles for revenue, customer count, and per-segment spend analysis.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2999232"/>
            <a:ext cx="2651760" cy="1691640"/>
          </a:xfrm>
          <a:prstGeom prst="rect">
            <a:avLst/>
          </a:prstGeom>
          <a:solidFill>
            <a:srgbClr val="152A52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64992" y="3182112"/>
            <a:ext cx="475488" cy="475488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64992" y="3182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0208" y="318211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Filters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64992" y="374904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by segment, date range, and geography for ad-hoc business exploration.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80760" y="2999232"/>
            <a:ext cx="2651760" cy="1691640"/>
          </a:xfrm>
          <a:prstGeom prst="rect">
            <a:avLst/>
          </a:prstGeom>
          <a:solidFill>
            <a:srgbClr val="152A52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45352" y="3182112"/>
            <a:ext cx="475488" cy="475488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45352" y="3182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30568" y="318211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 Analytics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45352" y="374904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charts, scatter plots, and heat maps for segment comparison and trend analysis.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731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Business Insights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9184" y="5486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RFM model revealed about customer behaviour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1051560"/>
          <a:ext cx="47548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349240" y="1051560"/>
            <a:ext cx="3474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349240" y="1051560"/>
            <a:ext cx="64008" cy="82296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77840" y="110642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Champions drive 54% of revenue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77840" y="139903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top-tier segment accounts for the majority of total sales — protect and reward them.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349240" y="1993392"/>
            <a:ext cx="3474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349240" y="1993392"/>
            <a:ext cx="64008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77840" y="204825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Loyalists are the growth engine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577840" y="2340864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contribution with consistent engagement. Cross-sell and upsell campaigns have high ROI here.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349240" y="2935224"/>
            <a:ext cx="3474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349240" y="2935224"/>
            <a:ext cx="64008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77840" y="299008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Potential = untapped opportunity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577840" y="328269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today. With targeted campaigns, many can be moved into Loyalist or Champion tiers.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349240" y="3877056"/>
            <a:ext cx="3474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349240" y="3877056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77840" y="39319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Hibernating = churn alert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577840" y="422452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 contribution and declining. Immediate reactivation campaigns are needed to prevent full loss.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731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 &amp; Production Pipeline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9184" y="5486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repeatable, and dashboard-ready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1005840" cy="7132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8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58952" y="1810512"/>
            <a:ext cx="45720" cy="246888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1097280"/>
            <a:ext cx="7269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554480" y="1097280"/>
            <a:ext cx="64008" cy="713232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55648" y="11612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ETL Pipeline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55648" y="1463040"/>
            <a:ext cx="6903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ingestion from raw CSV source. Handles cleaning, type casting, and record validation on each run.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057400"/>
            <a:ext cx="1005840" cy="7132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057400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8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8952" y="2770632"/>
            <a:ext cx="45720" cy="246888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54480" y="2057400"/>
            <a:ext cx="7269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54480" y="2057400"/>
            <a:ext cx="64008" cy="713232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55648" y="21214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RFM Score Generation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55648" y="2423160"/>
            <a:ext cx="6903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Recency, Frequency, and Monetary values via quantile-based scoring. Outputs a clean, scored customer dataset.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017520"/>
            <a:ext cx="1005840" cy="7132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017520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8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8952" y="3730752"/>
            <a:ext cx="45720" cy="246888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54480" y="3017520"/>
            <a:ext cx="7269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554480" y="3017520"/>
            <a:ext cx="64008" cy="713232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55648" y="30815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BI Feed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755648" y="3383280"/>
            <a:ext cx="6903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dataset is automatically loaded as the data source for the Power BI dashboard — no manual refresh needed.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977640"/>
            <a:ext cx="1005840" cy="7132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977640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8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554480" y="3977640"/>
            <a:ext cx="7269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554480" y="3977640"/>
            <a:ext cx="64008" cy="713232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55648" y="40416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Reporting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755648" y="4343400"/>
            <a:ext cx="6903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stays live and current. Business stakeholders get decision-ready insights without analyst intervention.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solidFill>
            <a:srgbClr val="E0F5F5"/>
          </a:solidFill>
          <a:ln w="12700">
            <a:solidFill>
              <a:srgbClr val="0D8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02920" y="46634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Pipeline is scalable — designed to handle growing transaction volumes with minimal code changes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0D8A8A">
              <a:alpha val="12000"/>
            </a:srgbClr>
          </a:solidFill>
          <a:ln w="12700">
            <a:solidFill>
              <a:srgbClr val="0D8A8A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731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Impact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9184" y="5486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real decisions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097280"/>
            <a:ext cx="4160520" cy="1691640"/>
          </a:xfrm>
          <a:prstGeom prst="rect">
            <a:avLst/>
          </a:prstGeom>
          <a:solidFill>
            <a:srgbClr val="152A52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80160" y="12801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Precise Targeting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16916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campaigns now reach the right customers with the right message — not everyone with the same email.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097280"/>
            <a:ext cx="64008" cy="169164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27448" y="1097280"/>
            <a:ext cx="4160520" cy="1691640"/>
          </a:xfrm>
          <a:prstGeom prst="rect">
            <a:avLst/>
          </a:prstGeom>
          <a:solidFill>
            <a:srgbClr val="152A52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687568" y="12801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High-Value Identification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87568" y="16916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and Loyalists are identified automatically, enabling premium retention and VIP programs.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27448" y="1097280"/>
            <a:ext cx="64008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017520"/>
            <a:ext cx="4160520" cy="1691640"/>
          </a:xfrm>
          <a:prstGeom prst="rect">
            <a:avLst/>
          </a:prstGeom>
          <a:solidFill>
            <a:srgbClr val="152A52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280160" y="32004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Churn Prevention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361188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Hibernating customers are flagged for reactivation before revenue is lost permanently.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017520"/>
            <a:ext cx="64008" cy="1691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27448" y="3017520"/>
            <a:ext cx="4160520" cy="1691640"/>
          </a:xfrm>
          <a:prstGeom prst="rect">
            <a:avLst/>
          </a:prstGeom>
          <a:solidFill>
            <a:srgbClr val="152A52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0328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687568" y="32004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Data-Driven Culture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87568" y="361188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replaced gut-feel decisions with live Power BI insights backed by behavioural analytics.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27448" y="3017520"/>
            <a:ext cx="64008" cy="1691640"/>
          </a:xfrm>
          <a:prstGeom prst="rect">
            <a:avLst/>
          </a:prstGeom>
          <a:solidFill>
            <a:srgbClr val="14B8B8"/>
          </a:solidFill>
          <a:ln w="12700">
            <a:solidFill>
              <a:srgbClr val="14B8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Consumer360  ·  Built with Python, SQL &amp; Power BI  ·  Data Analytics Project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Customer Analytics – RFM Segmentation</dc:title>
  <dc:subject>PptxGenJS Presentation</dc:subject>
  <dc:creator>PptxGenJS</dc:creator>
  <cp:lastModifiedBy>PptxGenJS</cp:lastModifiedBy>
  <cp:revision>1</cp:revision>
  <dcterms:created xsi:type="dcterms:W3CDTF">2026-03-09T13:55:49Z</dcterms:created>
  <dcterms:modified xsi:type="dcterms:W3CDTF">2026-03-09T13:55:49Z</dcterms:modified>
</cp:coreProperties>
</file>